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60" r:id="rId6"/>
    <p:sldId id="261" r:id="rId7"/>
    <p:sldId id="270" r:id="rId8"/>
    <p:sldId id="271" r:id="rId9"/>
    <p:sldId id="272" r:id="rId10"/>
    <p:sldId id="273" r:id="rId11"/>
    <p:sldId id="274" r:id="rId12"/>
    <p:sldId id="275" r:id="rId13"/>
    <p:sldId id="259" r:id="rId14"/>
    <p:sldId id="276" r:id="rId15"/>
    <p:sldId id="277" r:id="rId16"/>
    <p:sldId id="264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7454" autoAdjust="0"/>
  </p:normalViewPr>
  <p:slideViewPr>
    <p:cSldViewPr>
      <p:cViewPr varScale="1">
        <p:scale>
          <a:sx n="66" d="100"/>
          <a:sy n="66" d="100"/>
        </p:scale>
        <p:origin x="1005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1A4F9-13E9-4111-909F-CCD70DC9D98F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99285-E48C-41B1-B6FD-FF0D0C51E40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026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dirty="0"/>
              <a:t>Buenas tardes. Somos Antonio, Luis y Cristian, y les presentamos </a:t>
            </a:r>
            <a:r>
              <a:rPr lang="es-ES" dirty="0" err="1"/>
              <a:t>FarmaContigo</a:t>
            </a:r>
            <a:r>
              <a:rPr lang="es-ES" dirty="0"/>
              <a:t>.</a:t>
            </a:r>
          </a:p>
          <a:p>
            <a:pPr rtl="0"/>
            <a:r>
              <a:rPr lang="es-ES" dirty="0"/>
              <a:t>Imaginen que son las once de la noche. Necesitan un medicamento, o tienen una duda sobre uno que ya les indicaron, y no saben qué farmacia está abierta ni si lo que encuentran en internet es confiable.</a:t>
            </a:r>
          </a:p>
          <a:p>
            <a:pPr rtl="0"/>
            <a:r>
              <a:rPr lang="es-ES" dirty="0"/>
              <a:t>Ahí nace </a:t>
            </a:r>
            <a:r>
              <a:rPr lang="es-ES" dirty="0" err="1"/>
              <a:t>FarmaContigo</a:t>
            </a:r>
            <a:r>
              <a:rPr lang="es-ES" dirty="0"/>
              <a:t>: la tranquilidad de encontrar respuestas cuando más las necesitas.</a:t>
            </a:r>
          </a:p>
          <a:p>
            <a:pPr rtl="0"/>
            <a:r>
              <a:rPr lang="es-ES" dirty="0"/>
              <a:t>No venimos a reemplazar a un médico ni a un farmacéutico — venimos a acompañar, para que la persona se oriente mejor y sepa dónde acudir.</a:t>
            </a:r>
          </a:p>
          <a:p>
            <a:endParaRPr lang="es-CL" dirty="0"/>
          </a:p>
          <a:p>
            <a:r>
              <a:rPr lang="es-ES" b="1" dirty="0"/>
              <a:t>Transición:</a:t>
            </a:r>
            <a:r>
              <a:rPr lang="es-ES" dirty="0"/>
              <a:t> </a:t>
            </a:r>
            <a:r>
              <a:rPr lang="es-ES" i="1" dirty="0"/>
              <a:t>"Y para entender por qué creemos que esto tiene valor, partamos por el problema."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99285-E48C-41B1-B6FD-FF0D0C51E408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8764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dirty="0"/>
              <a:t>"Hoy este problema está fragmentado. Buscas qué farmacia está abierta en un sitio, confirmas el horario en otro, y después buscas si la información del medicamento es confiable.</a:t>
            </a:r>
          </a:p>
          <a:p>
            <a:pPr rtl="0"/>
            <a:r>
              <a:rPr lang="es-ES" dirty="0"/>
              <a:t>Y no es solo perder tiempo — en salud aparece algo más importante: la incertidumbre. ¿La farmacia realmente está abierta? ¿Puedo confiar en lo que estoy leyendo?</a:t>
            </a:r>
          </a:p>
          <a:p>
            <a:pPr rtl="0"/>
            <a:r>
              <a:rPr lang="es-ES" dirty="0" err="1"/>
              <a:t>FarmaContigo</a:t>
            </a:r>
            <a:r>
              <a:rPr lang="es-ES" dirty="0"/>
              <a:t> nace precisamente para reducir esa fragmentación."</a:t>
            </a:r>
          </a:p>
          <a:p>
            <a:pPr rtl="0"/>
            <a:r>
              <a:rPr lang="es-ES" b="1" dirty="0"/>
              <a:t>Transición:</a:t>
            </a:r>
            <a:r>
              <a:rPr lang="es-ES" dirty="0"/>
              <a:t> </a:t>
            </a:r>
            <a:r>
              <a:rPr lang="es-ES" i="1" dirty="0"/>
              <a:t>"Entonces nos hicimos una pregunta: ¿qué pasaría si todo eso pudiera resolverse dentro de una misma conversación?"</a:t>
            </a:r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99285-E48C-41B1-B6FD-FF0D0C51E408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4352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dirty="0"/>
              <a:t>"Esta es la idea central de </a:t>
            </a:r>
            <a:r>
              <a:rPr lang="es-ES" dirty="0" err="1"/>
              <a:t>FarmaContigo</a:t>
            </a:r>
            <a:r>
              <a:rPr lang="es-ES" dirty="0"/>
              <a:t>: todo lo que necesitas, en una sola conversación.</a:t>
            </a:r>
          </a:p>
          <a:p>
            <a:pPr rtl="0"/>
            <a:r>
              <a:rPr lang="es-ES" dirty="0"/>
              <a:t>Por ejemplo: '¿para qué sirve este medicamento y hay una farmacia abierta cerca de alguna comuna?' — el asistente entiende que ahí hay dos necesidades distintas, y las resuelve en la misma interacción.</a:t>
            </a:r>
          </a:p>
          <a:p>
            <a:pPr rtl="0"/>
            <a:r>
              <a:rPr lang="es-ES" dirty="0"/>
              <a:t>Tres cosas son fundamentales acá. Primero, la información es verificable — siempre decimos de dónde sale. Segundo, no obligamos a saltar entre aplicaciones: hablas o escribes, y el sistema mantiene el contexto. Y tercero, probablemente lo más importante: sabe cuándo decir que no. Si alguien pide una dosis o un diagnóstico, no improvisa — deriva a un profesional.</a:t>
            </a:r>
          </a:p>
          <a:p>
            <a:pPr rtl="0"/>
            <a:r>
              <a:rPr lang="es-ES" dirty="0"/>
              <a:t>La idea no es que la inteligencia artificial responda todo. Es que responda bien lo que realmente debe responder."</a:t>
            </a:r>
          </a:p>
          <a:p>
            <a:pPr rtl="0"/>
            <a:r>
              <a:rPr lang="es-ES" i="1" dirty="0"/>
              <a:t>(→ demo en vivo: "Y esto lo pueden ver o resolver en vivo, ahora mismo.")</a:t>
            </a:r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99285-E48C-41B1-B6FD-FF0D0C51E408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6137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b="1" dirty="0"/>
              <a:t>Devuelta del memo: </a:t>
            </a:r>
            <a:r>
              <a:rPr lang="es-ES" dirty="0"/>
              <a:t>"Ahora, hacer una demostración que funcione es relativamente fácil. Lo difícil empieza cuando la enfrentamos al mundo real.“</a:t>
            </a:r>
          </a:p>
          <a:p>
            <a:pPr rtl="0"/>
            <a:r>
              <a:rPr lang="es-ES" dirty="0"/>
              <a:t>"Para nosotros, esta fue probablemente la parte más importante del proyecto: la parte difícil no fue crear el asistente, fue hacerlo funcionar en el mundo real.</a:t>
            </a:r>
          </a:p>
          <a:p>
            <a:pPr rtl="0"/>
            <a:r>
              <a:rPr lang="es-ES" dirty="0"/>
              <a:t>Con datos reales aparecieron problemas que no se ven en un ejemplo de laboratorio: accesos bloqueados, fechas mezcladas, fuentes que no se comportaban como esperábamos, errores que solo aparecen cuando el sistema se usa de verdad. Y seguimos un ciclo simple: trabajar con datos reales, encontrar el problema, corregir, volver a probar.</a:t>
            </a:r>
          </a:p>
          <a:p>
            <a:pPr rtl="0"/>
            <a:r>
              <a:rPr lang="es-ES" dirty="0"/>
              <a:t>Eso también nos llevó a decisiones más responsables — como la privacidad: minimizamos la exposición de datos personales y le damos al usuario control sobre su historial.</a:t>
            </a:r>
          </a:p>
          <a:p>
            <a:pPr rtl="0"/>
            <a:r>
              <a:rPr lang="es-ES" dirty="0"/>
              <a:t>No buscamos mostrar un sistema perfecto. Buscamos mostrar uno donde entendemos sus límites, los probamos, y diseñamos controles para ellos."</a:t>
            </a:r>
          </a:p>
          <a:p>
            <a:pPr rtl="0"/>
            <a:r>
              <a:rPr lang="es-ES" b="1" dirty="0"/>
              <a:t>Transición:</a:t>
            </a:r>
            <a:r>
              <a:rPr lang="es-ES" dirty="0"/>
              <a:t> </a:t>
            </a:r>
            <a:r>
              <a:rPr lang="es-ES" i="1" dirty="0"/>
              <a:t>"Y todo esto finalmente vuelve a una idea mucho más sencilla: qué experiencia queremos entregarle a la persona."</a:t>
            </a:r>
            <a:endParaRPr lang="es-ES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99285-E48C-41B1-B6FD-FF0D0C51E408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7817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s-ES" dirty="0"/>
              <a:t>"</a:t>
            </a:r>
            <a:r>
              <a:rPr lang="es-ES" dirty="0" err="1"/>
              <a:t>FarmaContigo</a:t>
            </a:r>
            <a:r>
              <a:rPr lang="es-ES" dirty="0"/>
              <a:t> no busca agregar otra aplicación más a las que ya existen. Busca exactamente lo contrario: que una persona empiece con una duda, la exprese de forma natural, encuentre información confiable, sepa dónde acudir, y termine con algo que hoy suele faltar — claridad.</a:t>
            </a:r>
          </a:p>
          <a:p>
            <a:pPr rtl="0"/>
            <a:r>
              <a:rPr lang="es-ES" dirty="0"/>
              <a:t>Por eso lo resumimos así: menos búsqueda, más claridad.</a:t>
            </a:r>
          </a:p>
          <a:p>
            <a:pPr rtl="0"/>
            <a:r>
              <a:rPr lang="es-ES" dirty="0"/>
              <a:t>Porque cuando tenemos una duda relacionada con salud, lo último que necesitamos es seguir buscando. Lo que necesitamos es saber cuál es el siguiente paso."</a:t>
            </a:r>
          </a:p>
          <a:p>
            <a:pPr rtl="0"/>
            <a:r>
              <a:rPr lang="es-ES" b="1" i="1" dirty="0"/>
              <a:t>(pausa de 2 segundos)</a:t>
            </a:r>
            <a:endParaRPr lang="es-ES" b="1" dirty="0"/>
          </a:p>
          <a:p>
            <a:pPr rtl="0"/>
            <a:r>
              <a:rPr lang="es-ES" b="0" dirty="0"/>
              <a:t>"Eso es </a:t>
            </a:r>
            <a:r>
              <a:rPr lang="es-ES" b="0" dirty="0" err="1"/>
              <a:t>FarmaContigo</a:t>
            </a:r>
            <a:r>
              <a:rPr lang="es-ES" b="0" dirty="0"/>
              <a:t>: orientación cuando la necesitas, y claridad para saber cómo seguir. Gracias."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99285-E48C-41B1-B6FD-FF0D0C51E408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5893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el usuario escribe o dicta su pregunta y acepta el aviso de privacidad; la interfaz web la recibe; nuestra API valida el consentimiento y los límites de uso; </a:t>
            </a:r>
            <a:r>
              <a:rPr lang="es-ES" sz="1200" dirty="0" err="1"/>
              <a:t>LangGraph</a:t>
            </a:r>
            <a:r>
              <a:rPr lang="es-ES" sz="1200" dirty="0"/>
              <a:t> clasifica la intención y coordina la respuesta; y consulta dos fuentes — el MINSAL en vivo y nuestro vademécum en </a:t>
            </a:r>
            <a:r>
              <a:rPr lang="es-ES" sz="1200" dirty="0" err="1"/>
              <a:t>Qdrant</a:t>
            </a:r>
            <a:r>
              <a:rPr lang="es-ES" sz="1200" dirty="0"/>
              <a:t>. Todo esto corre bajo cuatro controles transversales: privacidad, seguridad, resiliencia y gobernanza.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Cada consulta pasa por siete etapas controladas: </a:t>
            </a:r>
            <a:r>
              <a:rPr lang="es-ES" dirty="0" err="1"/>
              <a:t>front</a:t>
            </a:r>
            <a:r>
              <a:rPr lang="es-ES" dirty="0"/>
              <a:t>, API, control de consentimiento y límites, </a:t>
            </a:r>
            <a:r>
              <a:rPr lang="es-ES" dirty="0" err="1"/>
              <a:t>guardrail</a:t>
            </a:r>
            <a:r>
              <a:rPr lang="es-ES" dirty="0"/>
              <a:t> de seguridad, el grafo de </a:t>
            </a:r>
            <a:r>
              <a:rPr lang="es-ES" dirty="0" err="1"/>
              <a:t>LangGraph</a:t>
            </a:r>
            <a:r>
              <a:rPr lang="es-ES" dirty="0"/>
              <a:t>, las </a:t>
            </a:r>
            <a:r>
              <a:rPr lang="es-ES" dirty="0" err="1"/>
              <a:t>tools</a:t>
            </a:r>
            <a:r>
              <a:rPr lang="es-ES" dirty="0"/>
              <a:t> de datos, y un </a:t>
            </a:r>
            <a:r>
              <a:rPr lang="es-ES" dirty="0" err="1"/>
              <a:t>guardrail</a:t>
            </a:r>
            <a:r>
              <a:rPr lang="es-ES" dirty="0"/>
              <a:t> de salida antes de responder. Además llevamos memoria temporal con vencimiento de 24 horas, auditoría completa de cada pregunta y respuesta, y trazabilidad operacional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de 34 verificaciones automatizadas superadas: grafo, pipeline MINSAL, guardrails (incluida deteccion de emergencia e ingles), dataset adversario, rate limiting, trazabilidad y </a:t>
            </a:r>
            <a:r>
              <a:rPr lang="en-US" dirty="0" err="1"/>
              <a:t>voz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Identificamos</a:t>
            </a:r>
            <a:r>
              <a:rPr lang="en-US" dirty="0"/>
              <a:t>13 </a:t>
            </a:r>
            <a:r>
              <a:rPr lang="en-US" dirty="0" err="1"/>
              <a:t>riesgos</a:t>
            </a:r>
            <a:r>
              <a:rPr lang="en-US" dirty="0"/>
              <a:t>, con su probabilidad e impacto. Los mas criticos (recomendar dosis, alucinacion, emergencia no derivada) tienen mitigaciones deterministas, sin depender solo del </a:t>
            </a:r>
            <a:r>
              <a:rPr lang="en-US" dirty="0" err="1"/>
              <a:t>modelo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Todo esto está funcionando ahora mismo, no es una maqueta. Aquí está el link a la aplicación en producción, el historial de auditoría en vivo, y el repositorio del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las 5 capas de control mas cercanas al guardrail: 3 deterministas (input guard, rechazo, output guard) y 2 probabilisticas (router, generador). Cada fila indica el riesgo especifico que esa capa mitiga. Usar si preguntan capa por capa que pasaria si una fallara.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Quisimos ser precisos con la ley: exige transparencia sobre los datos del propio usuario, no necesariamente mostrar la fuente y el minuto exacto de cada dato en el chat. Eso último es buena práctica, no una exigencia legal. Y lo que sí exige, ya lo cubrimos: consentimiento explícito, tiempo de vida de los datos, y borrado bajo demanda.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privacidad no quedó solo prometida en un documento. El chat exige aceptar un aviso antes de conversar, los datos se borran automáticamente a las 24 horas, cualquiera puede pedir el borrado inmediato de los suyos, y hay un </a:t>
            </a:r>
            <a:r>
              <a:rPr lang="es-ES" dirty="0" err="1"/>
              <a:t>endpoint</a:t>
            </a:r>
            <a:r>
              <a:rPr lang="es-ES" dirty="0"/>
              <a:t> que muestra en vivo exactamente qué se guarda y con quién se comparte.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tecnico para la ronda de preguntas: una leccion concreta por cada una de las 5 fases del proyecto, no genericas. Sirve para responder con detalle real si alguien pregunta que fue lo mas dificil de construir en alguna fase especifica.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05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392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asistente-farmacias.fly.dev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B4F867-B108-4290-A094-72D5044C5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" y="0"/>
            <a:ext cx="16252031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 l="1718" r="2908" b="3781"/>
          <a:stretch/>
        </p:blipFill>
        <p:spPr>
          <a:xfrm>
            <a:off x="7257" y="0"/>
            <a:ext cx="16248743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Interfaz de una aplicación de chat que ofrece información médica verificada y geolocalización de farmacias de turno.">
            <a:extLst>
              <a:ext uri="{FF2B5EF4-FFF2-40B4-BE49-F238E27FC236}">
                <a16:creationId xmlns:a16="http://schemas.microsoft.com/office/drawing/2014/main" id="{E6DDFE06-5D8F-4201-A133-5357D0ABC5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A99405B-D29E-4887-A2E9-F4ECDC6987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87" b="2941"/>
          <a:stretch/>
        </p:blipFill>
        <p:spPr>
          <a:xfrm>
            <a:off x="-28699" y="0"/>
            <a:ext cx="16313397" cy="9144000"/>
          </a:xfrm>
          <a:prstGeom prst="rect">
            <a:avLst/>
          </a:prstGeom>
        </p:spPr>
      </p:pic>
      <p:pic>
        <p:nvPicPr>
          <p:cNvPr id="9" name="Imagen 8">
            <a:hlinkClick r:id="rId4"/>
            <a:extLst>
              <a:ext uri="{FF2B5EF4-FFF2-40B4-BE49-F238E27FC236}">
                <a16:creationId xmlns:a16="http://schemas.microsoft.com/office/drawing/2014/main" id="{57C1E2EF-0A66-4C7E-B26E-EE8BEE1BC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5800" y="6477000"/>
            <a:ext cx="1295400" cy="1304972"/>
          </a:xfrm>
          <a:prstGeom prst="rect">
            <a:avLst/>
          </a:prstGeom>
          <a:ln>
            <a:solidFill>
              <a:srgbClr val="FEF7E4"/>
            </a:solidFill>
          </a:ln>
          <a:effectLst>
            <a:softEdge rad="3175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 l="1250" r="781" b="3781"/>
          <a:stretch/>
        </p:blipFill>
        <p:spPr>
          <a:xfrm>
            <a:off x="-1" y="0"/>
            <a:ext cx="1627352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688A245-DC72-4C75-B0C9-0A21E4EFC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" y="0"/>
            <a:ext cx="16252031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89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779520"/>
            <a:ext cx="1621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0" y="5059680"/>
            <a:ext cx="1621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C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</a:t>
            </a:r>
            <a:r>
              <a:rPr lang="en-US" sz="2133" dirty="0" err="1">
                <a:solidFill>
                  <a:srgbClr val="C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r>
              <a:rPr lang="en-US" sz="2133" dirty="0">
                <a:solidFill>
                  <a:srgbClr val="C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33" dirty="0" err="1">
                <a:solidFill>
                  <a:srgbClr val="C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2133" dirty="0">
                <a:solidFill>
                  <a:srgbClr val="CF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arquitectura, evidencia y evaluación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560576"/>
            <a:ext cx="1475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experiencia simple con control de extremo a extremo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828544" cy="225552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35936"/>
            <a:ext cx="2462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2462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o dicta la pregunta y acepta el aviso de privacidad.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66160" y="3169920"/>
            <a:ext cx="182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755136" y="2377440"/>
            <a:ext cx="2828544" cy="225552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8016" y="2535936"/>
            <a:ext cx="2462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empresarial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8016" y="3048000"/>
            <a:ext cx="2462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responsive con voz, estado del proceso y borrado de datos.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9776" y="3169920"/>
            <a:ext cx="182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78752" y="2377440"/>
            <a:ext cx="2828544" cy="225552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1632" y="2535936"/>
            <a:ext cx="2462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seguro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61632" y="3048000"/>
            <a:ext cx="2462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valida consentimiento, límites de uso y políticas.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13392" y="3169920"/>
            <a:ext cx="182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802368" y="2377440"/>
            <a:ext cx="2828544" cy="225552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85248" y="2535936"/>
            <a:ext cx="2462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985248" y="3048000"/>
            <a:ext cx="2462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clasifica la intención y coordina la respuesta.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637008" y="3169920"/>
            <a:ext cx="182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2825984" y="2377440"/>
            <a:ext cx="2828544" cy="2255520"/>
          </a:xfrm>
          <a:prstGeom prst="roundRect">
            <a:avLst>
              <a:gd name="adj" fmla="val 432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08864" y="2535936"/>
            <a:ext cx="24627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008864" y="3048000"/>
            <a:ext cx="2462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MINSAL en vivo y vademécum RAG en Qdrant.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00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TRANSVERSALES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5364480"/>
            <a:ext cx="14752320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583936"/>
            <a:ext cx="3596640" cy="12801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926592" y="5705856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6592" y="607161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expreso · TTL · borrado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74464" y="5583936"/>
            <a:ext cx="3596640" cy="12801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669536" y="5705856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69536" y="607161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 entrada y salida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17408" y="5583936"/>
            <a:ext cx="3596640" cy="12801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5705856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12480" y="607161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y fuente de respaldo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1960352" y="5583936"/>
            <a:ext cx="3596640" cy="12801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2155424" y="5705856"/>
            <a:ext cx="323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155424" y="6071616"/>
            <a:ext cx="32308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JSON a INFO / Fly Logs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7132320"/>
            <a:ext cx="14752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acceso conversacional a información farmacéutica con control, evidencia y capacidad de auditoría.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B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560576"/>
            <a:ext cx="1475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consulta atraviesa una cadena controlada y observable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9056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Front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9056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85872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3408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API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83408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· SSE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40224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Control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94576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2112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Guardrail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92112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· inyección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48928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6464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</a:t>
            </a:r>
            <a:r>
              <a:rPr lang="en-US" sz="1533" b="1" dirty="0" err="1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endParaRPr lang="en-US" sz="1533" b="1" dirty="0">
              <a:solidFill>
                <a:srgbClr val="0D59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46464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67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</a:t>
            </a:r>
            <a:r>
              <a:rPr lang="en-US" sz="1267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267" dirty="0">
              <a:solidFill>
                <a:srgbClr val="3341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003280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0816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Tools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100816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RAG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057632" y="2377440"/>
            <a:ext cx="1932432" cy="1645920"/>
          </a:xfrm>
          <a:prstGeom prst="roundRect">
            <a:avLst>
              <a:gd name="adj" fmla="val 4444"/>
            </a:avLst>
          </a:prstGeom>
          <a:solidFill>
            <a:srgbClr val="E8F5EF"/>
          </a:solidFill>
          <a:ln w="12700">
            <a:solidFill>
              <a:srgbClr val="1589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155168" y="2499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Salida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155168" y="2901696"/>
            <a:ext cx="1737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15000"/>
              </a:lnSpc>
            </a:pPr>
            <a:r>
              <a:rPr lang="en-US" sz="12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+ SSE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432816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kern="0" spc="200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RETENCIÓN Y OBSERVABILIDAD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14752320" cy="0"/>
          </a:xfrm>
          <a:prstGeom prst="line">
            <a:avLst/>
          </a:prstGeom>
          <a:noFill/>
          <a:ln w="12700">
            <a:solidFill>
              <a:srgbClr val="D9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937760"/>
            <a:ext cx="4815840" cy="1645920"/>
          </a:xfrm>
          <a:prstGeom prst="roundRect">
            <a:avLst>
              <a:gd name="adj" fmla="val 5185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926592" y="5071872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temporal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26592" y="5462016"/>
            <a:ext cx="4450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separado por user_id. TTL configurable; valor por defecto: 24 horas.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669280" y="4937760"/>
            <a:ext cx="4815840" cy="1645920"/>
          </a:xfrm>
          <a:prstGeom prst="roundRect">
            <a:avLst>
              <a:gd name="adj" fmla="val 5185"/>
            </a:avLst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864352" y="5071872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64352" y="5462016"/>
            <a:ext cx="4450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JSONL: pregunta → herramienta → respuesta → fuente. Endpoints protegidos por clave admin.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607040" y="4937760"/>
            <a:ext cx="4815840" cy="1645920"/>
          </a:xfrm>
          <a:prstGeom prst="roundRect">
            <a:avLst>
              <a:gd name="adj" fmla="val 5185"/>
            </a:avLst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10802112" y="5071872"/>
            <a:ext cx="445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operacional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802112" y="5462016"/>
            <a:ext cx="44500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333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structlog emite JSON a INFO con request_id, user_id, pregunta, capa y duración.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1520" y="6827520"/>
            <a:ext cx="14752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  </a:t>
            </a:r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Docker · despliegue Fly.io · logs por stdout · configuración mediante variables de entorno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1520" y="7315200"/>
            <a:ext cx="14752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actual: modular, probado localmente y preparado para operar con evidencia técnica en Fly.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C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— evidencia de pruebas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731520" y="1950720"/>
          <a:ext cx="14752320" cy="5462016"/>
        </p:xfrm>
        <a:graphic>
          <a:graphicData uri="http://schemas.openxmlformats.org/drawingml/2006/table">
            <a:tbl>
              <a:tblPr/>
              <a:tblGrid>
                <a:gridCol w="1133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probó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(routing, historial, aislamiento entre usuarios)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de datos MINSAL (vigencia, fallback, cache)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adversarios (incl. emergencia médica e inglés)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/ 22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adversario original (dosis, roleplay, escalada)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24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 (sesión e IP)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estructurada (structlog → Fly)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2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Dictado por voz en el front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0D5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731520" y="8229600"/>
            <a:ext cx="1475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 verificaciones automatizadas superadas en total.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— panorama completo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601" y="1889760"/>
          <a:ext cx="14508482" cy="6230112"/>
        </p:xfrm>
        <a:graphic>
          <a:graphicData uri="http://schemas.openxmlformats.org/drawingml/2006/table">
            <a:tbl>
              <a:tblPr/>
              <a:tblGrid>
                <a:gridCol w="59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1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5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9524">
                  <a:extLst>
                    <a:ext uri="{9D8B030D-6E8A-4147-A177-3AD203B41FA5}">
                      <a16:colId xmlns:a16="http://schemas.microsoft.com/office/drawing/2014/main" val="2024696105"/>
                    </a:ext>
                  </a:extLst>
                </a:gridCol>
              </a:tblGrid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kern="12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Dueño</a:t>
                      </a:r>
                      <a:endParaRPr lang="en-US" sz="1500" b="1" kern="1200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Recomendación de medicamento o dosis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Técnica/Legal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Luis + Cristian</a:t>
                      </a:r>
                      <a:endParaRPr lang="es-CL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MINSAL no responde o bloquea 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Cristian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Alucinación de ficha o dato clínico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Cristian + Antonio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anula las reglas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Luis 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informa stock/precio no confirmado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Legal/Reput.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Antonio  + Luis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 quedan en el historial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Todo el equipo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 con fecha vieja presentado vigente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Cristian</a:t>
                      </a:r>
                      <a:endParaRPr lang="es-CL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traducido induce errores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Antonio </a:t>
                      </a:r>
                      <a:endParaRPr lang="es-CL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del servicio durante la demo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Todo el equipo 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tokens se dispara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Cristian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depende de infraestructura externa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Antonio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positivo bloquea farmacias legítimas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Antonio + Luis</a:t>
                      </a:r>
                      <a:endParaRPr lang="es-CL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 médica no derivada a tiempo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Clínica/Legal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Luis</a:t>
                      </a:r>
                      <a:endParaRPr lang="es-CL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9267" marB="59267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despliegue en vivo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316480"/>
            <a:ext cx="14752320" cy="1402080"/>
          </a:xfrm>
          <a:prstGeom prst="roundRect">
            <a:avLst>
              <a:gd name="adj" fmla="val 8696"/>
            </a:avLst>
          </a:prstGeom>
          <a:solidFill>
            <a:srgbClr val="E8F5EF"/>
          </a:solidFill>
          <a:ln/>
        </p:spPr>
      </p:sp>
      <p:sp>
        <p:nvSpPr>
          <p:cNvPr id="5" name="Text 3"/>
          <p:cNvSpPr/>
          <p:nvPr/>
        </p:nvSpPr>
        <p:spPr>
          <a:xfrm>
            <a:off x="1158240" y="2462784"/>
            <a:ext cx="13898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producción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8240" y="2926080"/>
            <a:ext cx="1389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158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asistente-farmacias.fly.dev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4084320"/>
            <a:ext cx="14752320" cy="1402080"/>
          </a:xfrm>
          <a:prstGeom prst="roundRect">
            <a:avLst>
              <a:gd name="adj" fmla="val 8696"/>
            </a:avLst>
          </a:prstGeom>
          <a:solidFill>
            <a:srgbClr val="E8F5EF"/>
          </a:solidFill>
          <a:ln/>
        </p:spPr>
      </p:sp>
      <p:sp>
        <p:nvSpPr>
          <p:cNvPr id="8" name="Text 6"/>
          <p:cNvSpPr/>
          <p:nvPr/>
        </p:nvSpPr>
        <p:spPr>
          <a:xfrm>
            <a:off x="1158240" y="4230624"/>
            <a:ext cx="13898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auditoría (pregunta → tool → respuesta → fuente)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8240" y="4693920"/>
            <a:ext cx="1389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asistente-farmacias.fly.dev/historial/ver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5852160"/>
            <a:ext cx="14752320" cy="1402080"/>
          </a:xfrm>
          <a:prstGeom prst="roundRect">
            <a:avLst>
              <a:gd name="adj" fmla="val 8696"/>
            </a:avLst>
          </a:prstGeom>
          <a:solidFill>
            <a:srgbClr val="E8F5EF"/>
          </a:solidFill>
          <a:ln/>
        </p:spPr>
      </p:sp>
      <p:sp>
        <p:nvSpPr>
          <p:cNvPr id="11" name="Text 9"/>
          <p:cNvSpPr/>
          <p:nvPr/>
        </p:nvSpPr>
        <p:spPr>
          <a:xfrm>
            <a:off x="1158240" y="5998464"/>
            <a:ext cx="13898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código fuente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58240" y="6461760"/>
            <a:ext cx="1389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b="1" dirty="0">
                <a:solidFill>
                  <a:srgbClr val="158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n-US" sz="2667" b="1" dirty="0" err="1">
                <a:solidFill>
                  <a:srgbClr val="158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luiscaroca</a:t>
            </a:r>
            <a:r>
              <a:rPr lang="en-US" sz="2667" b="1" dirty="0">
                <a:solidFill>
                  <a:srgbClr val="158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-ai/TFGrupo1FarmaContigo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capas de control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60576"/>
            <a:ext cx="14752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protege algo distinto — determinista donde no puede haber ambigüedad, probabilística donde se necesita comprensión de lenguaje natural.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09600" y="2560320"/>
          <a:ext cx="14996160" cy="5266944"/>
        </p:xfrm>
        <a:graphic>
          <a:graphicData uri="http://schemas.openxmlformats.org/drawingml/2006/table">
            <a:tbl>
              <a:tblPr/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que mitiga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9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Guard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injection, robo de PII, inyecciones en inglés y emergencias médicas (riesgo de vida).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Fail-closed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B5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Probabilística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Desviación hacia intenciones no permitidas (consultas de dosis/tratamiento).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Rechazo Determinista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Intentos de persuasión del modelo en rutas críticas de salud.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del Generador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2B5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Probabilística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Alucinaciones, invención de datos o sugerencias de dosificación.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Guard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Fugas de posología, recomendaciones de toma o datos sensibles en la respuesta final.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21.719 — qué exige realmente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072640"/>
            <a:ext cx="7193280" cy="5852160"/>
          </a:xfrm>
          <a:prstGeom prst="roundRect">
            <a:avLst>
              <a:gd name="adj" fmla="val 2500"/>
            </a:avLst>
          </a:prstGeom>
          <a:solidFill>
            <a:srgbClr val="E8F5EF"/>
          </a:solidFill>
          <a:ln/>
        </p:spPr>
      </p:sp>
      <p:sp>
        <p:nvSpPr>
          <p:cNvPr id="5" name="Text 3"/>
          <p:cNvSpPr/>
          <p:nvPr/>
        </p:nvSpPr>
        <p:spPr>
          <a:xfrm>
            <a:off x="1158240" y="237744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LEY SÍ EXIGE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8240" y="2987040"/>
            <a:ext cx="633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hacia el usuario sobre SUS propios datos personales: qué se recolecta, para qué, y con qué base legal — y su derecho a acceder, corregir o borrar esos datos.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8240" y="4998720"/>
            <a:ext cx="633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0000"/>
              </a:lnSpc>
            </a:pPr>
            <a:r>
              <a:rPr lang="en-US" sz="1733" i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cubierto: consentimiento explícito, TTL de 24h, y borrado bajo demanda (ver Anexo G).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90560" y="2072640"/>
            <a:ext cx="7193280" cy="5852160"/>
          </a:xfrm>
          <a:prstGeom prst="roundRect">
            <a:avLst>
              <a:gd name="adj" fmla="val 2500"/>
            </a:avLst>
          </a:prstGeom>
          <a:solidFill>
            <a:srgbClr val="E3EDF9"/>
          </a:solidFill>
          <a:ln/>
        </p:spPr>
      </p:sp>
      <p:sp>
        <p:nvSpPr>
          <p:cNvPr id="9" name="Text 7"/>
          <p:cNvSpPr/>
          <p:nvPr/>
        </p:nvSpPr>
        <p:spPr>
          <a:xfrm>
            <a:off x="8717280" y="237744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 VECES SE CONFUNDE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17280" y="2987040"/>
            <a:ext cx="6339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lnSpc>
                <a:spcPct val="125000"/>
              </a:lnSpc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exige mostrar, en cada respuesta del chat, la fuente y el timestamp exacto de dónde salió cada dato — esa es una buena práctica de calidad de RAG, no un mandato legal específico de esta ley.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y consentimiento — ya construido, no solo prometido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255520"/>
            <a:ext cx="3596640" cy="5242560"/>
          </a:xfrm>
          <a:prstGeom prst="roundRect">
            <a:avLst>
              <a:gd name="adj" fmla="val 4068"/>
            </a:avLst>
          </a:prstGeom>
          <a:solidFill>
            <a:srgbClr val="E8F5EF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621280"/>
            <a:ext cx="853440" cy="853440"/>
          </a:xfrm>
          <a:prstGeom prst="ellipse">
            <a:avLst/>
          </a:prstGeom>
          <a:solidFill>
            <a:srgbClr val="158962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62128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3718560"/>
            <a:ext cx="315772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explícito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0976" y="4632960"/>
            <a:ext cx="3157728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chat exige aceptar un aviso de privacidad versionado antes de conversar (HTTP 428 si no se acepta).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32960" y="2255520"/>
            <a:ext cx="3596640" cy="5242560"/>
          </a:xfrm>
          <a:prstGeom prst="roundRect">
            <a:avLst>
              <a:gd name="adj" fmla="val 4068"/>
            </a:avLst>
          </a:prstGeom>
          <a:solidFill>
            <a:srgbClr val="E8F5EF"/>
          </a:solidFill>
          <a:ln/>
        </p:spPr>
      </p:sp>
      <p:sp>
        <p:nvSpPr>
          <p:cNvPr id="10" name="Shape 8"/>
          <p:cNvSpPr/>
          <p:nvPr/>
        </p:nvSpPr>
        <p:spPr>
          <a:xfrm>
            <a:off x="6004560" y="2621280"/>
            <a:ext cx="853440" cy="853440"/>
          </a:xfrm>
          <a:prstGeom prst="ellipse">
            <a:avLst/>
          </a:prstGeom>
          <a:solidFill>
            <a:srgbClr val="158962"/>
          </a:solidFill>
          <a:ln/>
        </p:spPr>
      </p:sp>
      <p:sp>
        <p:nvSpPr>
          <p:cNvPr id="11" name="Text 9"/>
          <p:cNvSpPr/>
          <p:nvPr/>
        </p:nvSpPr>
        <p:spPr>
          <a:xfrm>
            <a:off x="6004560" y="262128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52416" y="3718560"/>
            <a:ext cx="315772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real de 24 horas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52416" y="4632960"/>
            <a:ext cx="3157728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de limpieza automática borra conversaciones y registros de auditoría más antiguos que el límite.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34400" y="2255520"/>
            <a:ext cx="3596640" cy="5242560"/>
          </a:xfrm>
          <a:prstGeom prst="roundRect">
            <a:avLst>
              <a:gd name="adj" fmla="val 4068"/>
            </a:avLst>
          </a:prstGeom>
          <a:solidFill>
            <a:srgbClr val="E8F5E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0" y="2621280"/>
            <a:ext cx="853440" cy="853440"/>
          </a:xfrm>
          <a:prstGeom prst="ellipse">
            <a:avLst/>
          </a:prstGeom>
          <a:solidFill>
            <a:srgbClr val="158962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0" y="262128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53856" y="3718560"/>
            <a:ext cx="315772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bajo demanda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53856" y="4632960"/>
            <a:ext cx="3157728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pedir el borrado inmediato de sus propios datos vía DELETE /privacidad/datos/{user_id}.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435840" y="2255520"/>
            <a:ext cx="3596640" cy="5242560"/>
          </a:xfrm>
          <a:prstGeom prst="roundRect">
            <a:avLst>
              <a:gd name="adj" fmla="val 4068"/>
            </a:avLst>
          </a:prstGeom>
          <a:solidFill>
            <a:srgbClr val="E8F5EF"/>
          </a:solidFill>
          <a:ln/>
        </p:spPr>
      </p:sp>
      <p:sp>
        <p:nvSpPr>
          <p:cNvPr id="20" name="Shape 18"/>
          <p:cNvSpPr/>
          <p:nvPr/>
        </p:nvSpPr>
        <p:spPr>
          <a:xfrm>
            <a:off x="13807440" y="2621280"/>
            <a:ext cx="853440" cy="853440"/>
          </a:xfrm>
          <a:prstGeom prst="ellipse">
            <a:avLst/>
          </a:prstGeom>
          <a:solidFill>
            <a:srgbClr val="158962"/>
          </a:solidFill>
          <a:ln/>
        </p:spPr>
      </p:sp>
      <p:sp>
        <p:nvSpPr>
          <p:cNvPr id="21" name="Text 19"/>
          <p:cNvSpPr/>
          <p:nvPr/>
        </p:nvSpPr>
        <p:spPr>
          <a:xfrm>
            <a:off x="13807440" y="262128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655296" y="3718560"/>
            <a:ext cx="3157728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consultable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655296" y="4632960"/>
            <a:ext cx="3157728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6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/privacidad documenta en vivo qué se guarda, para qué, y con qué terceros (OpenAI, Qdrant, MINSAL).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267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267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I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55904"/>
            <a:ext cx="14752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 — una lección por fase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2255520"/>
            <a:ext cx="2779776" cy="554736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9344" y="2584704"/>
            <a:ext cx="780288" cy="780288"/>
          </a:xfrm>
          <a:prstGeom prst="roundRect">
            <a:avLst>
              <a:gd name="adj" fmla="val 21875"/>
            </a:avLst>
          </a:prstGeom>
          <a:solidFill>
            <a:srgbClr val="2B5B8C"/>
          </a:solidFill>
          <a:ln/>
        </p:spPr>
      </p:sp>
      <p:sp>
        <p:nvSpPr>
          <p:cNvPr id="6" name="Text 4"/>
          <p:cNvSpPr/>
          <p:nvPr/>
        </p:nvSpPr>
        <p:spPr>
          <a:xfrm>
            <a:off x="1609344" y="2584704"/>
            <a:ext cx="780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5904" y="3596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b="1" kern="0" spc="133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DATOS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2480" y="402336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15000"/>
              </a:lnSpc>
            </a:pPr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mal etiquetado no se nota en el enunciado, se nota en el dato.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2480" y="5791200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“Contraindications” del CSV traía reacciones adversas, no contraindicaciones.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3216" y="2255520"/>
            <a:ext cx="2779776" cy="554736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2960" y="2584704"/>
            <a:ext cx="780288" cy="780288"/>
          </a:xfrm>
          <a:prstGeom prst="roundRect">
            <a:avLst>
              <a:gd name="adj" fmla="val 21875"/>
            </a:avLst>
          </a:prstGeom>
          <a:solidFill>
            <a:srgbClr val="2B5B8C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960" y="2584704"/>
            <a:ext cx="780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79520" y="3596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b="1" kern="0" spc="133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MINSAL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16096" y="402336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15000"/>
              </a:lnSpc>
            </a:pPr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fuente externa real siempre sorprende más que el enunciado.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16096" y="5791200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MINSAL bloqueaba IPs de la nube y mezclaba fechas viejas con nuevas.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656832" y="2255520"/>
            <a:ext cx="2779776" cy="554736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56576" y="2584704"/>
            <a:ext cx="780288" cy="780288"/>
          </a:xfrm>
          <a:prstGeom prst="roundRect">
            <a:avLst>
              <a:gd name="adj" fmla="val 21875"/>
            </a:avLst>
          </a:prstGeom>
          <a:solidFill>
            <a:srgbClr val="2B5B8C"/>
          </a:solidFill>
          <a:ln/>
        </p:spPr>
      </p:sp>
      <p:sp>
        <p:nvSpPr>
          <p:cNvPr id="18" name="Text 16"/>
          <p:cNvSpPr/>
          <p:nvPr/>
        </p:nvSpPr>
        <p:spPr>
          <a:xfrm>
            <a:off x="7656576" y="2584704"/>
            <a:ext cx="780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03136" y="3596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b="1" kern="0" spc="133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GRAFO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39712" y="402336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15000"/>
              </a:lnSpc>
            </a:pPr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coordinar, dos personas resuelven el mismo problema dos veces.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39712" y="5791200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construyeron dos routers completos en paralelo, cada uno sin saber del otro.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680448" y="2255520"/>
            <a:ext cx="2779776" cy="554736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80192" y="2584704"/>
            <a:ext cx="780288" cy="780288"/>
          </a:xfrm>
          <a:prstGeom prst="roundRect">
            <a:avLst>
              <a:gd name="adj" fmla="val 21875"/>
            </a:avLst>
          </a:prstGeom>
          <a:solidFill>
            <a:srgbClr val="2B5B8C"/>
          </a:solidFill>
          <a:ln/>
        </p:spPr>
      </p:sp>
      <p:sp>
        <p:nvSpPr>
          <p:cNvPr id="24" name="Text 22"/>
          <p:cNvSpPr/>
          <p:nvPr/>
        </p:nvSpPr>
        <p:spPr>
          <a:xfrm>
            <a:off x="10680192" y="2584704"/>
            <a:ext cx="780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26752" y="3596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b="1" kern="0" spc="133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· GUARDRAILS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63328" y="402336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15000"/>
              </a:lnSpc>
            </a:pPr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regla en entrada y salida puede significar cosas opuestas.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63328" y="5791200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que detecta el celular del usuario también bloqueaba el de una farmacia.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2704064" y="2255520"/>
            <a:ext cx="2779776" cy="554736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03808" y="2584704"/>
            <a:ext cx="780288" cy="780288"/>
          </a:xfrm>
          <a:prstGeom prst="roundRect">
            <a:avLst>
              <a:gd name="adj" fmla="val 21875"/>
            </a:avLst>
          </a:prstGeom>
          <a:solidFill>
            <a:srgbClr val="2B5B8C"/>
          </a:solidFill>
          <a:ln/>
        </p:spPr>
      </p:sp>
      <p:sp>
        <p:nvSpPr>
          <p:cNvPr id="30" name="Text 28"/>
          <p:cNvSpPr/>
          <p:nvPr/>
        </p:nvSpPr>
        <p:spPr>
          <a:xfrm>
            <a:off x="13703808" y="2584704"/>
            <a:ext cx="780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2850368" y="3596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b="1" kern="0" spc="133" dirty="0">
                <a:solidFill>
                  <a:srgbClr val="2B5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· DESPLIEGUE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886944" y="4023360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15000"/>
              </a:lnSpc>
            </a:pPr>
            <a:r>
              <a:rPr lang="en-US" sz="1667" b="1" dirty="0">
                <a:solidFill>
                  <a:srgbClr val="0D5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deploy no muestre error no significa que el sistema funcione.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886944" y="5791200"/>
            <a:ext cx="2414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ct val="120000"/>
              </a:lnSpc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veces la app quedó caída porque un archivo nunca llegó a la imagen de Docker.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2316</Words>
  <Application>Microsoft Office PowerPoint</Application>
  <PresentationFormat>Personalizado</PresentationFormat>
  <Paragraphs>295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</dc:creator>
  <cp:lastModifiedBy>Antonio De Jesus Arias Moraga (antonio.arias)</cp:lastModifiedBy>
  <cp:revision>17</cp:revision>
  <dcterms:created xsi:type="dcterms:W3CDTF">2006-08-16T00:00:00Z</dcterms:created>
  <dcterms:modified xsi:type="dcterms:W3CDTF">2026-08-26T22:02:07Z</dcterms:modified>
</cp:coreProperties>
</file>